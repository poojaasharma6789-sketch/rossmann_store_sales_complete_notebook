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9728" cy="4206240"/>
          </a:xfrm>
          <a:prstGeom prst="rect">
            <a:avLst/>
          </a:prstGeom>
          <a:solidFill>
            <a:srgbClr val="2C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325880"/>
            <a:ext cx="6280117" cy="44012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u="sng" dirty="0"/>
              <a:t>Rossmann Store Sales Forecasting</a:t>
            </a:r>
          </a:p>
          <a:p>
            <a:pPr>
              <a:spcBef>
                <a:spcPts val="1400"/>
              </a:spcBef>
              <a:defRPr sz="2200">
                <a:solidFill>
                  <a:srgbClr val="CADAED"/>
                </a:solidFill>
              </a:defRPr>
            </a:pPr>
            <a:r>
              <a:rPr dirty="0"/>
              <a:t>Sales Forecasting Across Multiple Retail Stores</a:t>
            </a:r>
          </a:p>
          <a:p>
            <a:pPr>
              <a:spcBef>
                <a:spcPts val="2400"/>
              </a:spcBef>
              <a:defRPr sz="1500">
                <a:solidFill>
                  <a:srgbClr val="B0CDD2"/>
                </a:solidFill>
              </a:defRPr>
            </a:pPr>
            <a:r>
              <a:rPr dirty="0"/>
              <a:t>Machine Learning • Time Series • LSTM • </a:t>
            </a:r>
            <a:r>
              <a:rPr dirty="0" err="1"/>
              <a:t>MLflow</a:t>
            </a:r>
            <a:endParaRPr dirty="0"/>
          </a:p>
          <a:p>
            <a:pPr>
              <a:spcBef>
                <a:spcPts val="3400"/>
              </a:spcBef>
              <a:defRPr sz="1300">
                <a:solidFill>
                  <a:srgbClr val="FFFFFF"/>
                </a:solidFill>
              </a:defRPr>
            </a:pPr>
            <a:r>
              <a:rPr sz="1600" dirty="0"/>
              <a:t>Project Presentation</a:t>
            </a:r>
            <a:endParaRPr lang="en-US" sz="1600" dirty="0"/>
          </a:p>
          <a:p>
            <a:pPr>
              <a:spcBef>
                <a:spcPts val="3400"/>
              </a:spcBef>
              <a:defRPr sz="1300">
                <a:solidFill>
                  <a:srgbClr val="FFFFFF"/>
                </a:solidFill>
              </a:defRPr>
            </a:pPr>
            <a:endParaRPr lang="en-US" sz="1600" dirty="0"/>
          </a:p>
          <a:p>
            <a:pPr>
              <a:spcBef>
                <a:spcPts val="3400"/>
              </a:spcBef>
              <a:defRPr sz="1300">
                <a:solidFill>
                  <a:srgbClr val="FFFFFF"/>
                </a:solidFill>
              </a:defRPr>
            </a:pPr>
            <a:endParaRPr lang="en-US" sz="1600" dirty="0"/>
          </a:p>
          <a:p>
            <a:pPr>
              <a:spcBef>
                <a:spcPts val="3400"/>
              </a:spcBef>
              <a:defRPr sz="1300">
                <a:solidFill>
                  <a:srgbClr val="FFFFFF"/>
                </a:solidFill>
              </a:defRPr>
            </a:pPr>
            <a:r>
              <a:rPr lang="en-US" sz="1600" dirty="0"/>
              <a:t>By Pooja Kumari</a:t>
            </a:r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833952" cy="5078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33F"/>
                </a:solidFill>
              </a:defRPr>
            </a:pPr>
            <a:r>
              <a:rPr u="sng" dirty="0">
                <a:solidFill>
                  <a:schemeClr val="accent1">
                    <a:lumMod val="75000"/>
                  </a:schemeClr>
                </a:solidFill>
              </a:rPr>
              <a:t>1. Business Problem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830"/>
                </a:solidFill>
              </a:defRPr>
            </a:pPr>
            <a:r>
              <a:t>Rossmann needs daily sales forecasts for stores across multiple cities up to 6 weeks ahead.</a:t>
            </a:r>
          </a:p>
          <a:p>
            <a:pPr>
              <a:spcAft>
                <a:spcPts val="1000"/>
              </a:spcAft>
              <a:defRPr sz="1800">
                <a:solidFill>
                  <a:srgbClr val="212830"/>
                </a:solidFill>
              </a:defRPr>
            </a:pPr>
            <a:r>
              <a:t>Forecasts support finance and store managers in planning inventory, staffing and promotions.</a:t>
            </a:r>
          </a:p>
          <a:p>
            <a:pPr>
              <a:spcAft>
                <a:spcPts val="1000"/>
              </a:spcAft>
              <a:defRPr sz="1800">
                <a:solidFill>
                  <a:srgbClr val="212830"/>
                </a:solidFill>
              </a:defRPr>
            </a:pPr>
            <a:r>
              <a:t>Important drivers include promotions, holidays, seasonality, competition and store characteristics.</a:t>
            </a:r>
          </a:p>
          <a:p>
            <a:pPr>
              <a:spcAft>
                <a:spcPts val="1000"/>
              </a:spcAft>
              <a:defRPr sz="1800">
                <a:solidFill>
                  <a:srgbClr val="212830"/>
                </a:solidFill>
              </a:defRPr>
            </a:pPr>
            <a:r>
              <a:t>Target variable: daily Sales for each store.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1463040"/>
            <a:ext cx="4663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629400" y="1463040"/>
            <a:ext cx="73152" cy="1143000"/>
          </a:xfrm>
          <a:prstGeom prst="rect">
            <a:avLst/>
          </a:prstGeom>
          <a:solidFill>
            <a:srgbClr val="2C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0" y="1627632"/>
            <a:ext cx="42519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33F"/>
                </a:solidFill>
              </a:defRPr>
            </a:pPr>
            <a:r>
              <a:rPr dirty="0"/>
              <a:t>Forecast Horizon</a:t>
            </a:r>
          </a:p>
          <a:p>
            <a:pPr>
              <a:spcBef>
                <a:spcPts val="600"/>
              </a:spcBef>
              <a:defRPr sz="1150">
                <a:solidFill>
                  <a:srgbClr val="212830"/>
                </a:solidFill>
              </a:defRPr>
            </a:pPr>
            <a:r>
              <a:rPr dirty="0"/>
              <a:t>Predict future store sales up to 6 weeks ahead.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2788920"/>
            <a:ext cx="4663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29400" y="2788920"/>
            <a:ext cx="73152" cy="1143000"/>
          </a:xfrm>
          <a:prstGeom prst="rect">
            <a:avLst/>
          </a:prstGeom>
          <a:solidFill>
            <a:srgbClr val="2D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0" y="2953512"/>
            <a:ext cx="42519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33F"/>
                </a:solidFill>
              </a:defRPr>
            </a:pPr>
            <a:r>
              <a:t>Business Value</a:t>
            </a:r>
          </a:p>
          <a:p>
            <a:pPr>
              <a:spcBef>
                <a:spcPts val="600"/>
              </a:spcBef>
              <a:defRPr sz="1150">
                <a:solidFill>
                  <a:srgbClr val="212830"/>
                </a:solidFill>
              </a:defRPr>
            </a:pPr>
            <a:r>
              <a:t>Replace judgment-only forecasting with a reproducible data-driven pipeline.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4114800"/>
            <a:ext cx="4663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29400" y="4114800"/>
            <a:ext cx="73152" cy="1143000"/>
          </a:xfrm>
          <a:prstGeom prst="rect">
            <a:avLst/>
          </a:prstGeom>
          <a:solidFill>
            <a:srgbClr val="2C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0" y="4279392"/>
            <a:ext cx="42519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33F"/>
                </a:solidFill>
              </a:defRPr>
            </a:pPr>
            <a:r>
              <a:t>End Product</a:t>
            </a:r>
          </a:p>
          <a:p>
            <a:pPr>
              <a:spcBef>
                <a:spcPts val="600"/>
              </a:spcBef>
              <a:defRPr sz="1150">
                <a:solidFill>
                  <a:srgbClr val="212830"/>
                </a:solidFill>
              </a:defRPr>
            </a:pPr>
            <a:r>
              <a:t>Serve predictions through a web interface for finance/store users.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0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75720" y="6656832"/>
            <a:ext cx="457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437736" cy="5078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33F"/>
                </a:solidFill>
              </a:defRPr>
            </a:pPr>
            <a:r>
              <a:rPr u="sng" dirty="0">
                <a:solidFill>
                  <a:schemeClr val="accent2">
                    <a:lumMod val="75000"/>
                  </a:schemeClr>
                </a:solidFill>
              </a:rPr>
              <a:t>2. Data &amp; 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73152" cy="1417320"/>
          </a:xfrm>
          <a:prstGeom prst="rect">
            <a:avLst/>
          </a:prstGeom>
          <a:solidFill>
            <a:srgbClr val="2D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33F"/>
                </a:solidFill>
              </a:defRPr>
            </a:pPr>
            <a:r>
              <a:t>Transactional Data</a:t>
            </a:r>
          </a:p>
          <a:p>
            <a:pPr>
              <a:spcBef>
                <a:spcPts val="600"/>
              </a:spcBef>
              <a:defRPr sz="1150">
                <a:solidFill>
                  <a:srgbClr val="212830"/>
                </a:solidFill>
              </a:defRPr>
            </a:pPr>
            <a:r>
              <a:t>Store, Date, Sales, Customers, Open, Promo, StateHoliday, SchoolHoliday.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43400" y="1325880"/>
            <a:ext cx="73152" cy="1417320"/>
          </a:xfrm>
          <a:prstGeom prst="rect">
            <a:avLst/>
          </a:prstGeom>
          <a:solidFill>
            <a:srgbClr val="2C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490472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33F"/>
                </a:solidFill>
              </a:defRPr>
            </a:pPr>
            <a:r>
              <a:t>Store Metadata</a:t>
            </a:r>
          </a:p>
          <a:p>
            <a:pPr>
              <a:spcBef>
                <a:spcPts val="600"/>
              </a:spcBef>
              <a:defRPr sz="1150">
                <a:solidFill>
                  <a:srgbClr val="212830"/>
                </a:solidFill>
              </a:defRPr>
            </a:pPr>
            <a:r>
              <a:t>StoreType, Assortment, CompetitionDistance and competitor opening 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32588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01000" y="1325880"/>
            <a:ext cx="73152" cy="1417320"/>
          </a:xfrm>
          <a:prstGeom prst="rect">
            <a:avLst/>
          </a:prstGeom>
          <a:solidFill>
            <a:srgbClr val="2D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490472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33F"/>
                </a:solidFill>
              </a:defRPr>
            </a:pPr>
            <a:r>
              <a:t>Promotion History</a:t>
            </a:r>
          </a:p>
          <a:p>
            <a:pPr>
              <a:spcBef>
                <a:spcPts val="600"/>
              </a:spcBef>
              <a:defRPr sz="1150">
                <a:solidFill>
                  <a:srgbClr val="212830"/>
                </a:solidFill>
              </a:defRPr>
            </a:pPr>
            <a:r>
              <a:t>Promo2, Promo2SinceYear/Week and PromoInterval.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461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830"/>
                </a:solidFill>
              </a:defRPr>
            </a:pPr>
            <a:r>
              <a:rPr dirty="0"/>
              <a:t>Train and test data are merged with store-level information.</a:t>
            </a:r>
          </a:p>
          <a:p>
            <a:pPr>
              <a:spcAft>
                <a:spcPts val="1000"/>
              </a:spcAft>
              <a:defRPr sz="1700">
                <a:solidFill>
                  <a:srgbClr val="212830"/>
                </a:solidFill>
              </a:defRPr>
            </a:pPr>
            <a:r>
              <a:rPr dirty="0"/>
              <a:t>Date is converted to datetime and records are sorted chronologically.</a:t>
            </a:r>
          </a:p>
          <a:p>
            <a:pPr>
              <a:spcAft>
                <a:spcPts val="1000"/>
              </a:spcAft>
              <a:defRPr sz="1700">
                <a:solidFill>
                  <a:srgbClr val="212830"/>
                </a:solidFill>
              </a:defRPr>
            </a:pPr>
            <a:r>
              <a:rPr dirty="0"/>
              <a:t>Customers is useful for analysis but is not used as a future production feature because it is unavailable in the competition test set.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0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75720" y="6656832"/>
            <a:ext cx="457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097299" cy="5078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33F"/>
                </a:solidFill>
              </a:defRPr>
            </a:pPr>
            <a:r>
              <a:rPr u="sng" dirty="0">
                <a:solidFill>
                  <a:schemeClr val="accent6">
                    <a:lumMod val="75000"/>
                  </a:schemeClr>
                </a:solidFill>
              </a:rPr>
              <a:t>3. Exploratory Data Analysis – Customer Purchasing </a:t>
            </a:r>
            <a:r>
              <a:rPr u="sng" dirty="0" err="1">
                <a:solidFill>
                  <a:schemeClr val="accent6">
                    <a:lumMod val="75000"/>
                  </a:schemeClr>
                </a:solidFill>
              </a:rPr>
              <a:t>Behaviour</a:t>
            </a:r>
            <a:endParaRPr u="sng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50">
                <a:solidFill>
                  <a:srgbClr val="212830"/>
                </a:solidFill>
              </a:defRPr>
            </a:pPr>
            <a:r>
              <a:t>Compare promotion distribution in training vs test data.</a:t>
            </a:r>
          </a:p>
          <a:p>
            <a:pPr>
              <a:spcAft>
                <a:spcPts val="1000"/>
              </a:spcAft>
              <a:defRPr sz="1650">
                <a:solidFill>
                  <a:srgbClr val="212830"/>
                </a:solidFill>
              </a:defRPr>
            </a:pPr>
            <a:r>
              <a:t>Compare sales before, during and after holidays.</a:t>
            </a:r>
          </a:p>
          <a:p>
            <a:pPr>
              <a:spcAft>
                <a:spcPts val="1000"/>
              </a:spcAft>
              <a:defRPr sz="1650">
                <a:solidFill>
                  <a:srgbClr val="212830"/>
                </a:solidFill>
              </a:defRPr>
            </a:pPr>
            <a:r>
              <a:t>Study seasonal patterns such as Christmas and Easter periods.</a:t>
            </a:r>
          </a:p>
          <a:p>
            <a:pPr>
              <a:spcAft>
                <a:spcPts val="1000"/>
              </a:spcAft>
              <a:defRPr sz="1650">
                <a:solidFill>
                  <a:srgbClr val="212830"/>
                </a:solidFill>
              </a:defRPr>
            </a:pPr>
            <a:r>
              <a:t>Measure the relationship between Sales and Customers.</a:t>
            </a:r>
          </a:p>
          <a:p>
            <a:pPr>
              <a:spcAft>
                <a:spcPts val="1000"/>
              </a:spcAft>
              <a:defRPr sz="1650">
                <a:solidFill>
                  <a:srgbClr val="212830"/>
                </a:solidFill>
              </a:defRPr>
            </a:pPr>
            <a:r>
              <a:t>Evaluate promotion impact on both sales and customer traffic.</a:t>
            </a:r>
          </a:p>
          <a:p>
            <a:pPr>
              <a:spcAft>
                <a:spcPts val="1000"/>
              </a:spcAft>
              <a:defRPr sz="1650">
                <a:solidFill>
                  <a:srgbClr val="212830"/>
                </a:solidFill>
              </a:defRPr>
            </a:pPr>
            <a:r>
              <a:t>Analyze weekend/open-store behaviour, assortment type and competition distance.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463040"/>
            <a:ext cx="34747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79" y="1618488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0233F"/>
                </a:solidFill>
              </a:defRPr>
            </a:pPr>
            <a:r>
              <a:t>Promotions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514600"/>
            <a:ext cx="34747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79" y="2670048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0233F"/>
                </a:solidFill>
              </a:defRPr>
            </a:pPr>
            <a:r>
              <a:t>Holidays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566160"/>
            <a:ext cx="34747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79" y="3721608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0233F"/>
                </a:solidFill>
              </a:defRPr>
            </a:pPr>
            <a:r>
              <a:t>Seasonality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617720"/>
            <a:ext cx="34747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79" y="4773168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0233F"/>
                </a:solidFill>
              </a:defRPr>
            </a:pPr>
            <a:r>
              <a:t>Customers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0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75720" y="6656832"/>
            <a:ext cx="457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447" y="365760"/>
            <a:ext cx="5790816" cy="5078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33F"/>
                </a:solidFill>
              </a:defRPr>
            </a:pPr>
            <a:r>
              <a:rPr u="sng" dirty="0">
                <a:solidFill>
                  <a:schemeClr val="accent4">
                    <a:lumMod val="50000"/>
                  </a:schemeClr>
                </a:solidFill>
              </a:rPr>
              <a:t>4. Data Cleaning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669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50">
                <a:solidFill>
                  <a:srgbClr val="212830"/>
                </a:solidFill>
              </a:defRPr>
            </a:pPr>
            <a:r>
              <a:t>Check missing values, duplicates, data types and target distribution.</a:t>
            </a:r>
          </a:p>
          <a:p>
            <a:pPr>
              <a:spcAft>
                <a:spcPts val="1000"/>
              </a:spcAft>
              <a:defRPr sz="1650">
                <a:solidFill>
                  <a:srgbClr val="212830"/>
                </a:solidFill>
              </a:defRPr>
            </a:pPr>
            <a:r>
              <a:t>Handle missing numeric/categorical values inside reproducible preprocessing pipelines.</a:t>
            </a:r>
          </a:p>
          <a:p>
            <a:pPr>
              <a:spcAft>
                <a:spcPts val="1000"/>
              </a:spcAft>
              <a:defRPr sz="1650">
                <a:solidFill>
                  <a:srgbClr val="212830"/>
                </a:solidFill>
              </a:defRPr>
            </a:pPr>
            <a:r>
              <a:t>Convert categorical variables with one-hot encoding.</a:t>
            </a:r>
          </a:p>
          <a:p>
            <a:pPr>
              <a:spcAft>
                <a:spcPts val="1000"/>
              </a:spcAft>
              <a:defRPr sz="1650">
                <a:solidFill>
                  <a:srgbClr val="212830"/>
                </a:solidFill>
              </a:defRPr>
            </a:pPr>
            <a:r>
              <a:t>Engineer date features: weekday, weekend, month position and holiday proximity.</a:t>
            </a:r>
          </a:p>
          <a:p>
            <a:pPr>
              <a:spcAft>
                <a:spcPts val="1000"/>
              </a:spcAft>
              <a:defRPr sz="1650">
                <a:solidFill>
                  <a:srgbClr val="212830"/>
                </a:solidFill>
              </a:defRPr>
            </a:pPr>
            <a:r>
              <a:t>Scale numeric data where appropriate; LSTM series is scaled to (-1, 1).</a:t>
            </a:r>
          </a:p>
          <a:p>
            <a:pPr>
              <a:spcAft>
                <a:spcPts val="1000"/>
              </a:spcAft>
              <a:defRPr sz="1650">
                <a:solidFill>
                  <a:srgbClr val="212830"/>
                </a:solidFill>
              </a:defRPr>
            </a:pPr>
            <a:r>
              <a:t>Use a time-based train/validation split to reflect real forecasting.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417320"/>
            <a:ext cx="4389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0" y="1417320"/>
            <a:ext cx="73152" cy="1097280"/>
          </a:xfrm>
          <a:prstGeom prst="rect">
            <a:avLst/>
          </a:prstGeom>
          <a:solidFill>
            <a:srgbClr val="2C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86600" y="1581912"/>
            <a:ext cx="397763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33F"/>
                </a:solidFill>
              </a:defRPr>
            </a:pPr>
            <a:r>
              <a:t>Pipeline Benefit</a:t>
            </a:r>
          </a:p>
          <a:p>
            <a:pPr>
              <a:spcBef>
                <a:spcPts val="600"/>
              </a:spcBef>
              <a:defRPr sz="1150">
                <a:solidFill>
                  <a:srgbClr val="212830"/>
                </a:solidFill>
              </a:defRPr>
            </a:pPr>
            <a:r>
              <a:t>Modular, reproducible preprocessing and modelling.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788920"/>
            <a:ext cx="4389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0" y="2788920"/>
            <a:ext cx="73152" cy="1097280"/>
          </a:xfrm>
          <a:prstGeom prst="rect">
            <a:avLst/>
          </a:prstGeom>
          <a:solidFill>
            <a:srgbClr val="2D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86600" y="2953512"/>
            <a:ext cx="397763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33F"/>
                </a:solidFill>
              </a:defRPr>
            </a:pPr>
            <a:r>
              <a:t>Leakage Control</a:t>
            </a:r>
          </a:p>
          <a:p>
            <a:pPr>
              <a:spcBef>
                <a:spcPts val="600"/>
              </a:spcBef>
              <a:defRPr sz="1150">
                <a:solidFill>
                  <a:srgbClr val="212830"/>
                </a:solidFill>
              </a:defRPr>
            </a:pPr>
            <a:r>
              <a:t>Future-only information is excluded from production features.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160520"/>
            <a:ext cx="4389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0" y="4160520"/>
            <a:ext cx="73152" cy="1097280"/>
          </a:xfrm>
          <a:prstGeom prst="rect">
            <a:avLst/>
          </a:prstGeom>
          <a:solidFill>
            <a:srgbClr val="2C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86600" y="4325112"/>
            <a:ext cx="397763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33F"/>
                </a:solidFill>
              </a:defRPr>
            </a:pPr>
            <a:r>
              <a:t>Time Awareness</a:t>
            </a:r>
          </a:p>
          <a:p>
            <a:pPr>
              <a:spcBef>
                <a:spcPts val="600"/>
              </a:spcBef>
              <a:defRPr sz="1150">
                <a:solidFill>
                  <a:srgbClr val="212830"/>
                </a:solidFill>
              </a:defRPr>
            </a:pPr>
            <a:r>
              <a:t>Validation is chronological rather than randomly shuffled.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0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75720" y="6656832"/>
            <a:ext cx="457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63044" cy="5078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33F"/>
                </a:solidFill>
              </a:defRPr>
            </a:pPr>
            <a:r>
              <a:rPr u="sng" dirty="0">
                <a:solidFill>
                  <a:schemeClr val="accent3">
                    <a:lumMod val="50000"/>
                  </a:schemeClr>
                </a:solidFill>
              </a:rPr>
              <a:t>5. Machine Learning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73152" cy="1828800"/>
          </a:xfrm>
          <a:prstGeom prst="rect">
            <a:avLst/>
          </a:prstGeom>
          <a:solidFill>
            <a:srgbClr val="2D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90472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33F"/>
                </a:solidFill>
              </a:defRPr>
            </a:pPr>
            <a:r>
              <a:t>Baseline Model</a:t>
            </a:r>
          </a:p>
          <a:p>
            <a:pPr>
              <a:spcBef>
                <a:spcPts val="600"/>
              </a:spcBef>
              <a:defRPr sz="1150">
                <a:solidFill>
                  <a:srgbClr val="212830"/>
                </a:solidFill>
              </a:defRPr>
            </a:pPr>
            <a:r>
              <a:t>Random Forest Regressor</a:t>
            </a:r>
            <a:br/>
            <a:br/>
            <a:r>
              <a:t>Tree-based model suited to nonlinear relationships and mixed retail features.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325880"/>
            <a:ext cx="73152" cy="1828800"/>
          </a:xfrm>
          <a:prstGeom prst="rect">
            <a:avLst/>
          </a:prstGeom>
          <a:solidFill>
            <a:srgbClr val="2C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490472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33F"/>
                </a:solidFill>
              </a:defRPr>
            </a:pPr>
            <a:r>
              <a:t>Evaluation</a:t>
            </a:r>
          </a:p>
          <a:p>
            <a:pPr>
              <a:spcBef>
                <a:spcPts val="600"/>
              </a:spcBef>
              <a:defRPr sz="1150">
                <a:solidFill>
                  <a:srgbClr val="212830"/>
                </a:solidFill>
              </a:defRPr>
            </a:pPr>
            <a:r>
              <a:t>MAE • RMSE • R²</a:t>
            </a:r>
            <a:br/>
            <a:br/>
            <a:r>
              <a:t>Metrics compare prediction error and overall explanatory performance.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1325880"/>
            <a:ext cx="73152" cy="1828800"/>
          </a:xfrm>
          <a:prstGeom prst="rect">
            <a:avLst/>
          </a:prstGeom>
          <a:solidFill>
            <a:srgbClr val="2D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490472"/>
            <a:ext cx="2971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33F"/>
                </a:solidFill>
              </a:defRPr>
            </a:pPr>
            <a:r>
              <a:t>Post-Prediction</a:t>
            </a:r>
          </a:p>
          <a:p>
            <a:pPr>
              <a:spcBef>
                <a:spcPts val="600"/>
              </a:spcBef>
              <a:defRPr sz="1150">
                <a:solidFill>
                  <a:srgbClr val="212830"/>
                </a:solidFill>
              </a:defRPr>
            </a:pPr>
            <a:r>
              <a:t>Feature importance + residual-based approximate 95% prediction intervals.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830"/>
                </a:solidFill>
              </a:defRPr>
            </a:pPr>
            <a:r>
              <a:t>The model is wrapped in a scikit-learn pipeline.</a:t>
            </a:r>
          </a:p>
          <a:p>
            <a:pPr>
              <a:spcAft>
                <a:spcPts val="1000"/>
              </a:spcAft>
              <a:defRPr sz="1700">
                <a:solidFill>
                  <a:srgbClr val="212830"/>
                </a:solidFill>
              </a:defRPr>
            </a:pPr>
            <a:r>
              <a:t>Closed stores are assigned zero predicted sales.</a:t>
            </a:r>
          </a:p>
          <a:p>
            <a:pPr>
              <a:spcAft>
                <a:spcPts val="1000"/>
              </a:spcAft>
              <a:defRPr sz="1700">
                <a:solidFill>
                  <a:srgbClr val="212830"/>
                </a:solidFill>
              </a:defRPr>
            </a:pPr>
            <a:r>
              <a:t>The trained model is serialized with a timestamp for model-version tracking.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0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75720" y="6656832"/>
            <a:ext cx="457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6145208" cy="5078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33F"/>
                </a:solidFill>
              </a:defRPr>
            </a:pPr>
            <a:r>
              <a:rPr u="sng" dirty="0">
                <a:solidFill>
                  <a:schemeClr val="bg2">
                    <a:lumMod val="25000"/>
                  </a:schemeClr>
                </a:solidFill>
              </a:rPr>
              <a:t>6. Deep Learning &amp; Time-Series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6492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20">
                <a:solidFill>
                  <a:srgbClr val="212830"/>
                </a:solidFill>
              </a:defRPr>
            </a:pPr>
            <a:r>
              <a:t>Aggregate daily sales into a time series for the LSTM demonstration.</a:t>
            </a:r>
          </a:p>
          <a:p>
            <a:pPr>
              <a:spcAft>
                <a:spcPts val="1000"/>
              </a:spcAft>
              <a:defRPr sz="1620">
                <a:solidFill>
                  <a:srgbClr val="212830"/>
                </a:solidFill>
              </a:defRPr>
            </a:pPr>
            <a:r>
              <a:t>Check stationarity using the Augmented Dickey-Fuller test; difference the series when needed.</a:t>
            </a:r>
          </a:p>
          <a:p>
            <a:pPr>
              <a:spcAft>
                <a:spcPts val="1000"/>
              </a:spcAft>
              <a:defRPr sz="1620">
                <a:solidFill>
                  <a:srgbClr val="212830"/>
                </a:solidFill>
              </a:defRPr>
            </a:pPr>
            <a:r>
              <a:t>Inspect autocorrelation and partial autocorrelation (ACF/PACF).</a:t>
            </a:r>
          </a:p>
          <a:p>
            <a:pPr>
              <a:spcAft>
                <a:spcPts val="1000"/>
              </a:spcAft>
              <a:defRPr sz="1620">
                <a:solidFill>
                  <a:srgbClr val="212830"/>
                </a:solidFill>
              </a:defRPr>
            </a:pPr>
            <a:r>
              <a:t>Transform the sequence to supervised learning using a 14-day sliding window.</a:t>
            </a:r>
          </a:p>
          <a:p>
            <a:pPr>
              <a:spcAft>
                <a:spcPts val="1000"/>
              </a:spcAft>
              <a:defRPr sz="1620">
                <a:solidFill>
                  <a:srgbClr val="212830"/>
                </a:solidFill>
              </a:defRPr>
            </a:pPr>
            <a:r>
              <a:t>Apply log transformation and MinMax scaling to the (-1, 1) range.</a:t>
            </a:r>
          </a:p>
          <a:p>
            <a:pPr>
              <a:spcAft>
                <a:spcPts val="1000"/>
              </a:spcAft>
              <a:defRPr sz="1620">
                <a:solidFill>
                  <a:srgbClr val="212830"/>
                </a:solidFill>
              </a:defRPr>
            </a:pPr>
            <a:r>
              <a:t>Two-layer LSTM architecture: 64 units → 32 units → Dense layers → sales prediction.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508760"/>
            <a:ext cx="3657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35240" y="1508760"/>
            <a:ext cx="73152" cy="1188720"/>
          </a:xfrm>
          <a:prstGeom prst="rect">
            <a:avLst/>
          </a:prstGeom>
          <a:solidFill>
            <a:srgbClr val="2C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0" y="1673351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33F"/>
                </a:solidFill>
              </a:defRPr>
            </a:pPr>
            <a:r>
              <a:t>Architecture</a:t>
            </a:r>
          </a:p>
          <a:p>
            <a:pPr>
              <a:spcBef>
                <a:spcPts val="600"/>
              </a:spcBef>
              <a:defRPr sz="1150">
                <a:solidFill>
                  <a:srgbClr val="212830"/>
                </a:solidFill>
              </a:defRPr>
            </a:pPr>
            <a:r>
              <a:t>LSTM(64) → LSTM(32) → Dense(16) → Dense(1)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971800"/>
            <a:ext cx="3657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35240" y="2971800"/>
            <a:ext cx="73152" cy="1188720"/>
          </a:xfrm>
          <a:prstGeom prst="rect">
            <a:avLst/>
          </a:prstGeom>
          <a:solidFill>
            <a:srgbClr val="2D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3136392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33F"/>
                </a:solidFill>
              </a:defRPr>
            </a:pPr>
            <a:r>
              <a:t>Training</a:t>
            </a:r>
          </a:p>
          <a:p>
            <a:pPr>
              <a:spcBef>
                <a:spcPts val="600"/>
              </a:spcBef>
              <a:defRPr sz="1150">
                <a:solidFill>
                  <a:srgbClr val="212830"/>
                </a:solidFill>
              </a:defRPr>
            </a:pPr>
            <a:r>
              <a:t>Adam optimizer • MSE loss • MAE metric • Early stopping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4434840"/>
            <a:ext cx="3657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4434840"/>
            <a:ext cx="73152" cy="1188720"/>
          </a:xfrm>
          <a:prstGeom prst="rect">
            <a:avLst/>
          </a:prstGeom>
          <a:solidFill>
            <a:srgbClr val="2C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4599431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33F"/>
                </a:solidFill>
              </a:defRPr>
            </a:pPr>
            <a:r>
              <a:t>Goal</a:t>
            </a:r>
          </a:p>
          <a:p>
            <a:pPr>
              <a:spcBef>
                <a:spcPts val="600"/>
              </a:spcBef>
              <a:defRPr sz="1150">
                <a:solidFill>
                  <a:srgbClr val="212830"/>
                </a:solidFill>
              </a:defRPr>
            </a:pPr>
            <a:r>
              <a:t>Capture sequential patterns that tabular models may miss.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0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75720" y="6656832"/>
            <a:ext cx="457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6069354" cy="5078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33F"/>
                </a:solidFill>
              </a:defRPr>
            </a:pPr>
            <a:r>
              <a:rPr u="sng" dirty="0">
                <a:solidFill>
                  <a:schemeClr val="accent5">
                    <a:lumMod val="50000"/>
                  </a:schemeClr>
                </a:solidFill>
              </a:rPr>
              <a:t>7. </a:t>
            </a:r>
            <a:r>
              <a:rPr u="sng" dirty="0" err="1">
                <a:solidFill>
                  <a:schemeClr val="accent5">
                    <a:lumMod val="50000"/>
                  </a:schemeClr>
                </a:solidFill>
              </a:rPr>
              <a:t>MLOps</a:t>
            </a:r>
            <a:r>
              <a:rPr u="sng" dirty="0">
                <a:solidFill>
                  <a:schemeClr val="accent5">
                    <a:lumMod val="50000"/>
                  </a:schemeClr>
                </a:solidFill>
              </a:rPr>
              <a:t>, Model Tracking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6400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20">
                <a:solidFill>
                  <a:srgbClr val="212830"/>
                </a:solidFill>
              </a:defRPr>
            </a:pPr>
            <a:r>
              <a:rPr dirty="0"/>
              <a:t>Python logging records project execution steps.</a:t>
            </a:r>
          </a:p>
          <a:p>
            <a:pPr>
              <a:spcAft>
                <a:spcPts val="1000"/>
              </a:spcAft>
              <a:defRPr sz="1620">
                <a:solidFill>
                  <a:srgbClr val="212830"/>
                </a:solidFill>
              </a:defRPr>
            </a:pPr>
            <a:r>
              <a:rPr dirty="0" err="1"/>
              <a:t>MLflow</a:t>
            </a:r>
            <a:r>
              <a:rPr dirty="0"/>
              <a:t> experiment tracking stores Random Forest parameters, metrics and model artifacts.</a:t>
            </a:r>
          </a:p>
          <a:p>
            <a:pPr>
              <a:spcAft>
                <a:spcPts val="1000"/>
              </a:spcAft>
              <a:defRPr sz="1620">
                <a:solidFill>
                  <a:srgbClr val="212830"/>
                </a:solidFill>
              </a:defRPr>
            </a:pPr>
            <a:r>
              <a:rPr dirty="0"/>
              <a:t>Timestamped model serialization supports version control of daily forecasting models.</a:t>
            </a:r>
          </a:p>
          <a:p>
            <a:pPr>
              <a:spcAft>
                <a:spcPts val="1000"/>
              </a:spcAft>
              <a:defRPr sz="1620">
                <a:solidFill>
                  <a:srgbClr val="212830"/>
                </a:solidFill>
              </a:defRPr>
            </a:pPr>
            <a:r>
              <a:rPr dirty="0"/>
              <a:t>The required web interface can be implemented using Flask or </a:t>
            </a:r>
            <a:r>
              <a:rPr dirty="0" err="1"/>
              <a:t>Streamlit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620">
                <a:solidFill>
                  <a:srgbClr val="212830"/>
                </a:solidFill>
              </a:defRPr>
            </a:pPr>
            <a:r>
              <a:rPr dirty="0"/>
              <a:t>Dashboard inputs include Store ID, date-related variables and CSV upload; outputs include predicted sales/customer plots and downloadable CSV.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417320"/>
            <a:ext cx="3657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35240" y="1417320"/>
            <a:ext cx="73152" cy="1143000"/>
          </a:xfrm>
          <a:prstGeom prst="rect">
            <a:avLst/>
          </a:prstGeom>
          <a:solidFill>
            <a:srgbClr val="2D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0" y="1581912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33F"/>
                </a:solidFill>
              </a:defRPr>
            </a:pPr>
            <a:r>
              <a:t>Track</a:t>
            </a:r>
          </a:p>
          <a:p>
            <a:pPr>
              <a:spcBef>
                <a:spcPts val="600"/>
              </a:spcBef>
              <a:defRPr sz="1150">
                <a:solidFill>
                  <a:srgbClr val="212830"/>
                </a:solidFill>
              </a:defRPr>
            </a:pPr>
            <a:r>
              <a:t>Metrics • Parameters •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788920"/>
            <a:ext cx="3657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35240" y="2788920"/>
            <a:ext cx="73152" cy="1143000"/>
          </a:xfrm>
          <a:prstGeom prst="rect">
            <a:avLst/>
          </a:prstGeom>
          <a:solidFill>
            <a:srgbClr val="2C8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2953512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33F"/>
                </a:solidFill>
              </a:defRPr>
            </a:pPr>
            <a:r>
              <a:t>Serve</a:t>
            </a:r>
          </a:p>
          <a:p>
            <a:pPr>
              <a:spcBef>
                <a:spcPts val="600"/>
              </a:spcBef>
              <a:defRPr sz="1150">
                <a:solidFill>
                  <a:srgbClr val="212830"/>
                </a:solidFill>
              </a:defRPr>
            </a:pPr>
            <a:r>
              <a:t>Web app for store managers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4160520"/>
            <a:ext cx="3657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4160520"/>
            <a:ext cx="73152" cy="1143000"/>
          </a:xfrm>
          <a:prstGeom prst="rect">
            <a:avLst/>
          </a:prstGeom>
          <a:solidFill>
            <a:srgbClr val="2D6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4325112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33F"/>
                </a:solidFill>
              </a:defRPr>
            </a:pPr>
            <a:r>
              <a:t>Export</a:t>
            </a:r>
          </a:p>
          <a:p>
            <a:pPr>
              <a:spcBef>
                <a:spcPts val="600"/>
              </a:spcBef>
              <a:defRPr sz="1150">
                <a:solidFill>
                  <a:srgbClr val="212830"/>
                </a:solidFill>
              </a:defRPr>
            </a:pPr>
            <a:r>
              <a:t>Prediction CSV + visual forecast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0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75720" y="6656832"/>
            <a:ext cx="457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418441" cy="5078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33F"/>
                </a:solidFill>
              </a:defRPr>
            </a:pPr>
            <a:r>
              <a:rPr u="sng" dirty="0">
                <a:solidFill>
                  <a:schemeClr val="accent1">
                    <a:lumMod val="75000"/>
                  </a:schemeClr>
                </a:solidFill>
              </a:rPr>
              <a:t>8. Key Analytical Conclusions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E6975"/>
                </a:solidFill>
              </a:defRPr>
            </a:pPr>
            <a:r>
              <a:t>Notebook conclusions are methodological until the notebook is executed on the full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50">
                <a:solidFill>
                  <a:srgbClr val="212830"/>
                </a:solidFill>
              </a:defRPr>
            </a:pPr>
            <a:r>
              <a:t>Evaluate promotions by incremental sales and customer lift, not raw sales alone.</a:t>
            </a:r>
          </a:p>
          <a:p>
            <a:pPr>
              <a:spcAft>
                <a:spcPts val="1000"/>
              </a:spcAft>
              <a:defRPr sz="1650">
                <a:solidFill>
                  <a:srgbClr val="212830"/>
                </a:solidFill>
              </a:defRPr>
            </a:pPr>
            <a:r>
              <a:t>Holiday and seasonal periods can materially change purchasing behaviour.</a:t>
            </a:r>
          </a:p>
          <a:p>
            <a:pPr>
              <a:spcAft>
                <a:spcPts val="1000"/>
              </a:spcAft>
              <a:defRPr sz="1650">
                <a:solidFill>
                  <a:srgbClr val="212830"/>
                </a:solidFill>
              </a:defRPr>
            </a:pPr>
            <a:r>
              <a:t>Customer count is strongly relevant for analysis, but should be forecast separately before using it as a future sales input.</a:t>
            </a:r>
          </a:p>
          <a:p>
            <a:pPr>
              <a:spcAft>
                <a:spcPts val="1000"/>
              </a:spcAft>
              <a:defRPr sz="1650">
                <a:solidFill>
                  <a:srgbClr val="212830"/>
                </a:solidFill>
              </a:defRPr>
            </a:pPr>
            <a:r>
              <a:t>Store type, assortment, competition distance and promotion history can explain differences between stores.</a:t>
            </a:r>
          </a:p>
          <a:p>
            <a:pPr>
              <a:spcAft>
                <a:spcPts val="1000"/>
              </a:spcAft>
              <a:defRPr sz="1650">
                <a:solidFill>
                  <a:srgbClr val="212830"/>
                </a:solidFill>
              </a:defRPr>
            </a:pPr>
            <a:r>
              <a:t>Random Forest is a strong tabular baseline; LSTM provides a complementary sequential model.</a:t>
            </a:r>
          </a:p>
          <a:p>
            <a:pPr>
              <a:spcAft>
                <a:spcPts val="1000"/>
              </a:spcAft>
              <a:defRPr sz="1650">
                <a:solidFill>
                  <a:srgbClr val="212830"/>
                </a:solidFill>
              </a:defRPr>
            </a:pPr>
            <a:r>
              <a:t>Communicate prediction intervals because every forecast contains uncertainty.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0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75720" y="6656832"/>
            <a:ext cx="457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99858" cy="5078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33F"/>
                </a:solidFill>
              </a:defRPr>
            </a:pPr>
            <a:r>
              <a:rPr u="sng" dirty="0">
                <a:solidFill>
                  <a:schemeClr val="accent4">
                    <a:lumMod val="75000"/>
                  </a:schemeClr>
                </a:solidFill>
              </a:rPr>
              <a:t>9. Deliverables &amp; Final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830"/>
                </a:solidFill>
              </a:defRPr>
            </a:pPr>
            <a:r>
              <a:t>Completed notebook: EDA, preprocessing, Random Forest, evaluation, feature importance, confidence interval, LSTM and MLflow integration.</a:t>
            </a:r>
          </a:p>
          <a:p>
            <a:pPr>
              <a:spcAft>
                <a:spcPts val="1000"/>
              </a:spcAft>
              <a:defRPr sz="1700">
                <a:solidFill>
                  <a:srgbClr val="212830"/>
                </a:solidFill>
              </a:defRPr>
            </a:pPr>
            <a:r>
              <a:t>Generate and submit the prediction CSV from the trained pipeline.</a:t>
            </a:r>
          </a:p>
          <a:p>
            <a:pPr>
              <a:spcAft>
                <a:spcPts val="1000"/>
              </a:spcAft>
              <a:defRPr sz="1700">
                <a:solidFill>
                  <a:srgbClr val="212830"/>
                </a:solidFill>
              </a:defRPr>
            </a:pPr>
            <a:r>
              <a:t>Add repository files: app.py / Streamlit dashboard, README, requirements, Dockerfile, CI workflow and tests.</a:t>
            </a:r>
          </a:p>
          <a:p>
            <a:pPr>
              <a:spcAft>
                <a:spcPts val="1000"/>
              </a:spcAft>
              <a:defRPr sz="1700">
                <a:solidFill>
                  <a:srgbClr val="212830"/>
                </a:solidFill>
              </a:defRPr>
            </a:pPr>
            <a:r>
              <a:t>Final package: analysis PDF/blog, GitHub notebook/code link, deployed application or dashboard screenshot, and supporting screenshots.</a:t>
            </a:r>
          </a:p>
          <a:p>
            <a:pPr>
              <a:spcAft>
                <a:spcPts val="1000"/>
              </a:spcAft>
              <a:defRPr sz="1700">
                <a:solidFill>
                  <a:srgbClr val="212830"/>
                </a:solidFill>
              </a:defRPr>
            </a:pPr>
            <a:r>
              <a:t>Project brief lists the final submission date as 15 September 2026.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10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6656832"/>
            <a:ext cx="457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89955" y="2240280"/>
            <a:ext cx="5288437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Thank You</a:t>
            </a:r>
          </a:p>
          <a:p>
            <a:pPr algn="ctr">
              <a:spcBef>
                <a:spcPts val="1600"/>
              </a:spcBef>
              <a:defRPr sz="2000">
                <a:solidFill>
                  <a:srgbClr val="C1D7E9"/>
                </a:solidFill>
              </a:defRPr>
            </a:pPr>
            <a:r>
              <a:rPr dirty="0"/>
              <a:t>Rossmann Store Sales Forecasting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910</Words>
  <Application>Microsoft Office PowerPoint</Application>
  <PresentationFormat>Widescreen</PresentationFormat>
  <Paragraphs>112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pooja sharma</cp:lastModifiedBy>
  <cp:revision>2</cp:revision>
  <dcterms:created xsi:type="dcterms:W3CDTF">2013-01-27T09:14:16Z</dcterms:created>
  <dcterms:modified xsi:type="dcterms:W3CDTF">2026-09-07T15:59:54Z</dcterms:modified>
  <cp:category/>
</cp:coreProperties>
</file>